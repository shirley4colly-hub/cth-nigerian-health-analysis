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32B6-17AB-237F-59B7-8135170B4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E3126-3AE2-0A68-D549-348D61856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28E8-A864-EEE1-ACF6-077890B1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74B1D-139A-0837-73AC-3FECEC6F6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18299-9D11-6263-30AE-0D862D4E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9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36184-F66B-2DAB-4F1C-C43029C3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EC5BB-E357-23FB-8D24-17B1AC751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B4BE7-7B53-F8A0-F5ED-ABDFD0530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18593-6D46-BFEB-2271-8D1F69AB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33BD6-93A4-EA75-F65E-49ECDB60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99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A05BF-453F-147A-FCE3-3C703CC19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6FC6D-F257-334F-6A4C-F3D32F787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3A0D5-BC4B-E38A-C4A7-D284A7D56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A58C-EA40-FD21-FA3D-643C5AD71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10F48-920F-9D73-FB51-38367E49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73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765B-A1C8-EABC-E5B2-EFB8D463D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C7B5C-BF8D-9869-B108-5360AD841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95211-79B1-C7F3-05FF-A7EA18B85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3D25F-3DB2-BD84-8112-8CCA3EB5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F8952-7679-F3AD-FFA2-8C852399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B550E-9549-83EB-DE63-ED4911B0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9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769E-1914-4BAE-0FDD-B3A8E8C5D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4F078-0FFE-E6E7-DCA7-5E5B86835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56EF0-51F1-1A05-912E-B03EB61C9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5E0DC-A929-EDAF-0A52-3C6ACAFA6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654FE-348F-B512-6320-A3856002F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4C22A-4700-2A8E-66C1-0321AFDAC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9D2D3-B534-2AE8-CB1E-D1326CA5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2473C-B7F3-488C-983C-60426919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15AA-F6E1-EE7F-D5C8-4C6B6C35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52C9B-A7D5-536C-CE85-D3BE3FD4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F469E-2870-F684-4E9C-184D4C7B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A278A-F67A-F8CD-20DB-F78E4982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F751B9-D1A4-CA7C-0FD9-FFEF1B6A6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0D625-0BF7-0DBA-E84B-8531444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3CB08-F08D-139F-5AC5-3EE9D434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07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9592-07FD-4EE7-9715-8338AAD1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448D-B40C-A9BB-E5E8-94A463092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3444C-85ED-2697-0578-DB92E6EE1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1A889-3E08-9115-5A19-902DB793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63778-6DB1-C475-6BB4-FE34112E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71108-FCE6-70E0-E988-D39BD065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2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0E2F3-668C-9AD9-A96C-AF4F4302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C4A00-7998-6977-676E-817C0EBAB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6C801-C3FC-198C-0B43-B2211F906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18C7B-F384-83D8-41B0-52A8ECCCF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BA8C5-BC1A-A9B1-0013-8F0CB6A3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DCE2C-897D-98AE-E87B-A454FE63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7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A50D-1FF6-BC53-1927-3E949F58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7016F-5471-C5EF-219A-456097A27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2E9EE-CCD7-5581-9BA6-7673E734C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CCF80-5AB5-947D-2BA5-DE9570B2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5673C-ACBA-297E-13FC-C10B2BE84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4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789FD-770E-FEBD-6F59-04511FA4B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FDF93-054C-9745-1A0E-EF3482486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EBD2F-F4B2-7A31-C252-95A50283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2D8F0-8AE6-6041-85B9-CAB280B9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368AA-3428-CAF6-2AED-E5D8F388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6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304AB-FBCE-0154-F2B1-AB4B9675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65D1E-753B-468E-DE7F-D73D37A60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F3B15-E6C5-E014-4B1F-BFA565954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B7F48-E628-49D9-B3BE-0E0B18173FE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D5C60-6037-4CD9-5698-7EC67EEF1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A1AF2-AE68-8A9F-0C7A-17048BFE1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81C94-7438-4948-8E68-938FBD49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98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4D52-9A19-BCC0-5FC3-DD66781FF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628" y="29822"/>
            <a:ext cx="9144000" cy="1228951"/>
          </a:xfrm>
        </p:spPr>
        <p:txBody>
          <a:bodyPr>
            <a:normAutofit/>
          </a:bodyPr>
          <a:lstStyle/>
          <a:p>
            <a:r>
              <a:rPr lang="en-US" sz="4000" b="1" dirty="0"/>
              <a:t>Disease Burden and Mortality Trends in Nigeria (2010–2018)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906BE-8691-8937-00AC-1DA57B5F7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56" y="1838554"/>
            <a:ext cx="5236031" cy="512761"/>
          </a:xfrm>
        </p:spPr>
        <p:txBody>
          <a:bodyPr/>
          <a:lstStyle/>
          <a:p>
            <a:r>
              <a:rPr lang="en-US" dirty="0"/>
              <a:t>Power BI Health Analytics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898C1-26AB-8896-A700-EAB7B01C7472}"/>
              </a:ext>
            </a:extLst>
          </p:cNvPr>
          <p:cNvSpPr txBox="1"/>
          <p:nvPr/>
        </p:nvSpPr>
        <p:spPr>
          <a:xfrm>
            <a:off x="6509655" y="5753491"/>
            <a:ext cx="5236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Prepared by: Onyinye Shirley Odunze-Akasiugwu</a:t>
            </a:r>
          </a:p>
        </p:txBody>
      </p:sp>
    </p:spTree>
    <p:extLst>
      <p:ext uri="{BB962C8B-B14F-4D97-AF65-F5344CB8AC3E}">
        <p14:creationId xmlns:p14="http://schemas.microsoft.com/office/powerpoint/2010/main" val="147040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952B-954E-7F1E-B51E-90D67363A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0F519E-C022-CAC1-F3A4-E7E43FBAB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1370470"/>
            <a:ext cx="8577943" cy="3756703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Multiple infectious diseases remain active across reporting years.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Disease burden is unevenly distributed across settlements and age groups.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Certain years recorded noticeable spikes in specific diseases.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Targeted interventions can significantly reduce mortality and improve response efficiency.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2CD3A-AD26-101D-E021-1E57B5B0F4E8}"/>
              </a:ext>
            </a:extLst>
          </p:cNvPr>
          <p:cNvSpPr txBox="1"/>
          <p:nvPr/>
        </p:nvSpPr>
        <p:spPr>
          <a:xfrm>
            <a:off x="4158345" y="141512"/>
            <a:ext cx="4027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Executive Summary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17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48F8-1A4B-DEAC-32BC-E2C8AD2E8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D23537-B271-5FE8-BE51-6C73A6A45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1370470"/>
            <a:ext cx="8131629" cy="282052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Kaduna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Kano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Abuja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Port Harcourt </a:t>
            </a:r>
          </a:p>
          <a:p>
            <a:pPr algn="l"/>
            <a:r>
              <a:rPr lang="en-US" dirty="0">
                <a:effectLst/>
              </a:rPr>
              <a:t>are the most affected states and require targeted interventions.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BC944-7ED8-014F-F070-5F45FF03EA9D}"/>
              </a:ext>
            </a:extLst>
          </p:cNvPr>
          <p:cNvSpPr txBox="1"/>
          <p:nvPr/>
        </p:nvSpPr>
        <p:spPr>
          <a:xfrm>
            <a:off x="2471058" y="119740"/>
            <a:ext cx="6553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effectLst/>
              </a:rPr>
              <a:t>Top States with Malaria &amp; Cholera</a:t>
            </a:r>
            <a:endParaRPr lang="en-US" sz="3600" dirty="0">
              <a:effectLst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73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9DB63-781A-5170-BF33-9162346F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7AED39-BD13-0DBC-652A-FA2F20D69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0" y="1337814"/>
            <a:ext cx="8577943" cy="3538986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Disease composition remained relatively consistent between 2010 and 2018.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Cholera and Malaria continue to represent major portions of reported cases.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Minor fluctuations suggest partial improvement but persistent endemic presence.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AA130-291E-F0A9-FB5A-023303DA4813}"/>
              </a:ext>
            </a:extLst>
          </p:cNvPr>
          <p:cNvSpPr txBox="1"/>
          <p:nvPr/>
        </p:nvSpPr>
        <p:spPr>
          <a:xfrm>
            <a:off x="2471058" y="119740"/>
            <a:ext cx="7271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Disease Distribution (2010 vs 2018)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2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79A9D-6D0B-2901-E603-0522E17A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BDFAD3-E847-3AB2-205A-D024CBD3E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0" y="1337814"/>
            <a:ext cx="8577943" cy="92333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Urban and rural settlements both show high case volumes, with urban slightly higher.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C1E26-684F-6845-B565-EBBA448CE814}"/>
              </a:ext>
            </a:extLst>
          </p:cNvPr>
          <p:cNvSpPr txBox="1"/>
          <p:nvPr/>
        </p:nvSpPr>
        <p:spPr>
          <a:xfrm>
            <a:off x="4038600" y="130626"/>
            <a:ext cx="4114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Settlement Analysis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236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B4D30-DD4D-7327-F970-57FB8A6A3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8F4ED0C-9A98-ACBA-DD01-EF1CBEBE1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0" y="1337813"/>
            <a:ext cx="8577943" cy="3190643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Adults show the highest </a:t>
            </a:r>
            <a:r>
              <a:rPr lang="en-US" dirty="0" err="1"/>
              <a:t>diarrhoea</a:t>
            </a:r>
            <a:r>
              <a:rPr lang="en-US" dirty="0"/>
              <a:t> cases.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Elder and teen groups follow at lower levels.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Prevention messaging should strongly target </a:t>
            </a:r>
            <a:r>
              <a:rPr lang="en-US" b="1" dirty="0"/>
              <a:t>adult population behaviors</a:t>
            </a:r>
            <a:r>
              <a:rPr lang="en-US" dirty="0"/>
              <a:t>, especially hygiene and water safety.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C52F76-7680-318C-987A-AF14D3E422EF}"/>
              </a:ext>
            </a:extLst>
          </p:cNvPr>
          <p:cNvSpPr txBox="1"/>
          <p:nvPr/>
        </p:nvSpPr>
        <p:spPr>
          <a:xfrm>
            <a:off x="2732316" y="130626"/>
            <a:ext cx="6977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Age Group Analysis – </a:t>
            </a:r>
            <a:r>
              <a:rPr lang="en-US" sz="3600" b="1" dirty="0" err="1"/>
              <a:t>Diarrhoea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62269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41F3D-AF37-72DB-ADAE-EC999A65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5E1AF4-B456-72FD-9018-62057FF0B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0" y="1337814"/>
            <a:ext cx="8577943" cy="1971444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The trend shows noticeable fluctuations with peak years.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Certain years experienced sharp increases (“heavy hit” years) indicating </a:t>
            </a:r>
            <a:r>
              <a:rPr lang="en-US" b="1" dirty="0"/>
              <a:t>periodic outbreaks</a:t>
            </a:r>
            <a:r>
              <a:rPr lang="en-US" dirty="0"/>
              <a:t>, not steady decline.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590E8C-5AD8-1A05-610C-5F028568999B}"/>
              </a:ext>
            </a:extLst>
          </p:cNvPr>
          <p:cNvSpPr txBox="1"/>
          <p:nvPr/>
        </p:nvSpPr>
        <p:spPr>
          <a:xfrm>
            <a:off x="2732316" y="130626"/>
            <a:ext cx="560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Meningitis Trend Over Time</a:t>
            </a:r>
          </a:p>
        </p:txBody>
      </p:sp>
    </p:spTree>
    <p:extLst>
      <p:ext uri="{BB962C8B-B14F-4D97-AF65-F5344CB8AC3E}">
        <p14:creationId xmlns:p14="http://schemas.microsoft.com/office/powerpoint/2010/main" val="28377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E00D-0E1A-F475-9497-819C2982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EDCBA5-092C-EDC1-F141-9BAB888C8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0" y="760873"/>
            <a:ext cx="8577943" cy="5280701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Malaria and Cholera remain the most persistent threats.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Disease burden is concentrated in identifiable hotspots.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Adults are most affected by </a:t>
            </a:r>
            <a:r>
              <a:rPr lang="en-US" dirty="0" err="1"/>
              <a:t>diarrhoeal</a:t>
            </a:r>
            <a:r>
              <a:rPr lang="en-US" dirty="0"/>
              <a:t> infections but children are vulnerable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Some years experienced outbreak spikes, signaling surveillance gaps.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Current control measures show progress but are insufficient for elimination.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9B7BD-9417-3F9C-AE5E-DFF2FF3914AA}"/>
              </a:ext>
            </a:extLst>
          </p:cNvPr>
          <p:cNvSpPr txBox="1"/>
          <p:nvPr/>
        </p:nvSpPr>
        <p:spPr>
          <a:xfrm>
            <a:off x="4942116" y="0"/>
            <a:ext cx="2775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942932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C6A3-7314-2E74-E933-EA9D4767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97BEF8-1712-41E5-3599-DB8EFA334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0" y="760874"/>
            <a:ext cx="8577943" cy="5901184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/>
              <a:t>Strengthen Disease Control Methods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Expand mosquito net distribution and indoor spraying.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Improve water sanitation infrastructure in high-risk areas.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Increase rapid diagnostic testing capacity.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/>
              <a:t>Target High-Risk Age Groups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Launch hygiene education campaigns for adults.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School-based prevention for younger populations.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/>
              <a:t>Outbreak Preparedness)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Pre-position medical supplies before peak seasons.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Train rapid response teams for meningitis spikes.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CBF93-EA04-3133-57BE-F407FAF5060C}"/>
              </a:ext>
            </a:extLst>
          </p:cNvPr>
          <p:cNvSpPr txBox="1"/>
          <p:nvPr/>
        </p:nvSpPr>
        <p:spPr>
          <a:xfrm>
            <a:off x="3145970" y="0"/>
            <a:ext cx="6172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Actionable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116988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D805-DA68-6867-B4A2-A79746A4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844120-23C5-30EE-9F27-5B2E7A6AE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0" y="1511989"/>
            <a:ext cx="8577943" cy="2668126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/>
              <a:t>Reduce Death Rate &amp; Improve Patient Experience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Promote early diagnosis programs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Increase rural healthcare access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Continuous training for clinical staff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Monitor treatment turnaround time</a:t>
            </a: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F32510-E65E-CCAA-EB9C-C0BC1CBC7D5C}"/>
              </a:ext>
            </a:extLst>
          </p:cNvPr>
          <p:cNvSpPr txBox="1"/>
          <p:nvPr/>
        </p:nvSpPr>
        <p:spPr>
          <a:xfrm>
            <a:off x="3145970" y="228598"/>
            <a:ext cx="6172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Actionable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808265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25DF0-2DB7-F809-0891-784FF6F7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51FD41-82AB-EB5A-EA19-C6C153603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0" y="1511988"/>
            <a:ext cx="9437640" cy="2897965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The analysis reveals persistent infectious disease pressure with identifiable demographic and geographic risk patterns.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With targeted interventions, improved surveillance, and focused public education, the hospital can significantly reduce disease burden and mortality while improving overall healthcare delivery.</a:t>
            </a: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9078D0-AE8F-8B25-1FDE-12462517C050}"/>
              </a:ext>
            </a:extLst>
          </p:cNvPr>
          <p:cNvSpPr txBox="1"/>
          <p:nvPr/>
        </p:nvSpPr>
        <p:spPr>
          <a:xfrm>
            <a:off x="4604380" y="89702"/>
            <a:ext cx="2757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37602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391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Disease Burden and Mortality Trends in Nigeria (2010–2018)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Shirley Odunze-Akasiugwu</dc:creator>
  <cp:lastModifiedBy>Shirley Odunze-Akasiugwu</cp:lastModifiedBy>
  <cp:revision>2</cp:revision>
  <dcterms:created xsi:type="dcterms:W3CDTF">2026-02-28T17:04:12Z</dcterms:created>
  <dcterms:modified xsi:type="dcterms:W3CDTF">2026-02-28T19:09:22Z</dcterms:modified>
</cp:coreProperties>
</file>